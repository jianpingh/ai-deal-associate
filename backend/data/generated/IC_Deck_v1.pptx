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Summary</a:t>
            </a:r>
          </a:p>
        </p:txBody>
      </p:sp>
      <p:sp>
        <p:nvSpPr>
          <p:cNvPr id="3" name="Content Placeholder 2"/>
          <p:cNvSpPr>
            <a:spLocks noGrp="1"/>
          </p:cNvSpPr>
          <p:nvPr>
            <p:ph idx="1"/>
          </p:nvPr>
        </p:nvSpPr>
        <p:spPr/>
        <p:txBody>
          <a:bodyPr/>
          <a:lstStyle/>
          <a:p/>
          <a:p>
            <a:pPr/>
            <a:r>
              <a:t>To align and enrich the data from the JSON and PDF documents, we need to match the assets based on their address or property name, extract relevant information from the PDF, and verify the details. Here's a structured summary of the aligned deal data:</a:t>
            </a:r>
          </a:p>
          <a:p>
            <a:pPr/>
            <a:r>
              <a:t>### Asset: DC1 Ingram Micro</a:t>
            </a:r>
          </a:p>
          <a:p>
            <a:pPr/>
            <a:r>
              <a:t>#### 1. Alignment</a:t>
            </a:r>
          </a:p>
          <a:p>
            <a:pPr/>
            <a:r>
              <a:t>- **Address**: DC1, Drayton Way, Apex Park NN11 8NF, Daventry, United Kingdom</a:t>
            </a:r>
          </a:p>
          <a:p>
            <a:pPr/>
            <a:r>
              <a:t>- **Property Name**: Apex Park, Daventry</a:t>
            </a:r>
          </a:p>
          <a:p>
            <a:pPr/>
            <a:r>
              <a:t>#### 2. Extracted &amp; Enriched Data</a:t>
            </a:r>
          </a:p>
          <a:p>
            <a:pPr/>
            <a:r>
              <a:t>- **Market Highlights**:</a:t>
            </a:r>
          </a:p>
          <a:p>
            <a:pPr/>
            <a:r>
              <a:t>- The PDF documents provided do not specifically mention Apex Park, Daventry. Therefore, no market highlights are extracted from the PDF for this asset.</a:t>
            </a:r>
          </a:p>
          <a:p>
            <a:pPr/>
            <a:r>
              <a:t>- **Investment Rationale**:</a:t>
            </a:r>
          </a:p>
          <a:p>
            <a:pPr/>
            <a:r>
              <a:t>- The PDF documents do not provide specific investment rationale for Apex Park, Daventry. However, based on the JSON data, the presence of tenants like Ingram Micro and CNH Industrial suggests a stable tenant base, which could be considered a positive investment rationale.</a:t>
            </a:r>
          </a:p>
          <a:p>
            <a:pPr/>
            <a:r>
              <a:t>- **Risk Factors**:</a:t>
            </a:r>
          </a:p>
          <a:p>
            <a:pPr/>
            <a:r>
              <a:t>- No specific risk factors are mentio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Market</a:t>
            </a:r>
          </a:p>
        </p:txBody>
      </p:sp>
      <p:sp>
        <p:nvSpPr>
          <p:cNvPr id="3" name="Content Placeholder 2"/>
          <p:cNvSpPr>
            <a:spLocks noGrp="1"/>
          </p:cNvSpPr>
          <p:nvPr>
            <p:ph idx="1"/>
          </p:nvPr>
        </p:nvSpPr>
        <p:spPr/>
        <p:txBody>
          <a:bodyPr/>
          <a:lstStyle/>
          <a:p/>
          <a:p>
            <a:pPr/>
            <a:r>
              <a:t>Market Highlights:</a:t>
            </a:r>
          </a:p>
          <a:p>
            <a:pPr/>
            <a:r>
              <a:t>- Prime logistics location</a:t>
            </a:r>
          </a:p>
          <a:p>
            <a:pPr/>
            <a:r>
              <a:t>- Strong demand fundamentals</a:t>
            </a:r>
          </a:p>
          <a:p>
            <a:pPr/>
            <a:r>
              <a:t>- Low vacancy rates in the submarket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Tenancy</a:t>
            </a:r>
          </a:p>
        </p:txBody>
      </p:sp>
      <p:sp>
        <p:nvSpPr>
          <p:cNvPr id="3" name="Content Placeholder 2"/>
          <p:cNvSpPr>
            <a:spLocks noGrp="1"/>
          </p:cNvSpPr>
          <p:nvPr>
            <p:ph idx="1"/>
          </p:nvPr>
        </p:nvSpPr>
        <p:spPr/>
        <p:txBody>
          <a:bodyPr/>
          <a:lstStyle/>
          <a:p/>
          <a:p>
            <a:pPr/>
            <a:r>
              <a:t>Key Tenants:</a:t>
            </a:r>
          </a:p>
          <a:p>
            <a:pPr/>
            <a:r>
              <a:t>- Logistics Corp A: 5,000 sqm</a:t>
            </a:r>
          </a:p>
          <a:p>
            <a:pPr/>
            <a:r>
              <a:t>- E-Commerce Ltd: 3,000 sqm</a:t>
            </a:r>
          </a:p>
          <a:p>
            <a:pPr/>
            <a:r>
              <a:t>- Global Supply Chain: 2,000 sqm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Business Plan</a:t>
            </a:r>
          </a:p>
        </p:txBody>
      </p:sp>
      <p:sp>
        <p:nvSpPr>
          <p:cNvPr id="3" name="Content Placeholder 2"/>
          <p:cNvSpPr>
            <a:spLocks noGrp="1"/>
          </p:cNvSpPr>
          <p:nvPr>
            <p:ph idx="1"/>
          </p:nvPr>
        </p:nvSpPr>
        <p:spPr/>
        <p:txBody>
          <a:bodyPr/>
          <a:lstStyle/>
          <a:p/>
          <a:p>
            <a:pPr/>
            <a:r>
              <a:t>Key Assumptions:</a:t>
            </a:r>
          </a:p>
          <a:p>
            <a:pPr/>
            <a:r>
              <a:t>- Market Rent: 85 EUR/sqm</a:t>
            </a:r>
          </a:p>
          <a:p>
            <a:pPr/>
            <a:r>
              <a:t>- Entry Yield: 4.50%</a:t>
            </a:r>
          </a:p>
          <a:p>
            <a:pPr/>
            <a:r>
              <a:t>- Exit Yield: 4.75%</a:t>
            </a:r>
          </a:p>
          <a:p>
            <a:pPr/>
            <a:r>
              <a:t>- Capex: 0 EUR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Sensitivities</a:t>
            </a:r>
          </a:p>
        </p:txBody>
      </p:sp>
      <p:sp>
        <p:nvSpPr>
          <p:cNvPr id="3" name="Content Placeholder 2"/>
          <p:cNvSpPr>
            <a:spLocks noGrp="1"/>
          </p:cNvSpPr>
          <p:nvPr>
            <p:ph idx="1"/>
          </p:nvPr>
        </p:nvSpPr>
        <p:spPr/>
        <p:txBody>
          <a:bodyPr/>
          <a:lstStyle/>
          <a:p/>
          <a:p>
            <a:pPr/>
            <a:r>
              <a:t>Sensitivity Analysis:</a:t>
            </a:r>
          </a:p>
          <a:p>
            <a:pPr/>
            <a:r>
              <a:t>- Impact of Exit Yield expansion (+25bps)</a:t>
            </a:r>
          </a:p>
          <a:p>
            <a:pPr/>
            <a:r>
              <a:t>- Impact of Rent Growth reduction (-1%)</a:t>
            </a:r>
          </a:p>
          <a:p>
            <a:pPr/>
            <a:r>
              <a:t>- Interest Rate stress test (+100bps)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a:t>
            </a:r>
          </a:p>
        </p:txBody>
      </p:sp>
      <p:sp>
        <p:nvSpPr>
          <p:cNvPr id="3" name="Content Placeholder 2"/>
          <p:cNvSpPr>
            <a:spLocks noGrp="1"/>
          </p:cNvSpPr>
          <p:nvPr>
            <p:ph idx="1"/>
          </p:nvPr>
        </p:nvSpPr>
        <p:spPr/>
        <p:txBody>
          <a:bodyPr/>
          <a:lstStyle/>
          <a:p/>
          <a:p>
            <a:pPr/>
            <a:r>
              <a:t>Documents Reviewed:</a:t>
            </a:r>
          </a:p>
          <a:p>
            <a:pPr/>
            <a:r>
              <a:t>- Investment Memorandum.pdf</a:t>
            </a:r>
          </a:p>
          <a:p>
            <a:pPr/>
            <a:r>
              <a:t>- Rent Roll.xlsx</a:t>
            </a:r>
          </a:p>
          <a:p>
            <a:pPr/>
            <a:r>
              <a:t>- Technical DD Report.pdf</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